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embeddedFontLst>
    <p:embeddedFont>
      <p:font typeface="Plus Jakarta Sans"/>
      <p:bold r:id="rId12"/>
    </p:embeddedFont>
    <p:embeddedFont>
      <p:font typeface="Space Grotesk"/>
      <p:bold r:id="rId1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2149822"/>
            <a:ext cx="3327350" cy="304800"/>
          </a:xfrm>
          <a:prstGeom prst="roundRect">
            <a:avLst>
              <a:gd name="adj" fmla="val 50000"/>
            </a:avLst>
          </a:prstGeom>
          <a:solidFill>
            <a:srgbClr val="0F2A38"/>
          </a:solidFill>
          <a:ln w="9525">
            <a:solidFill>
              <a:srgbClr val="0E4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62000" y="4079527"/>
            <a:ext cx="8382000" cy="6286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62000" y="4079527"/>
            <a:ext cx="83820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62000" y="2645122"/>
            <a:ext cx="4111451" cy="6076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4784"/>
              </a:lnSpc>
            </a:pPr>
            <a:r>
              <a:rPr sz="4350" b="1" i="0" u="none">
                <a:solidFill>
                  <a:srgbClr val="FFFFFF"/>
                </a:solidFill>
                <a:latin typeface="Plus Jakarta Sans"/>
              </a:rPr>
              <a:t>HunarShakti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3405187"/>
            <a:ext cx="7750968" cy="2933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sz="1650" b="0" i="0" u="none">
                <a:solidFill>
                  <a:srgbClr val="94A3B8"/>
                </a:solidFill>
                <a:latin typeface="Plus Jakarta Sans"/>
              </a:rPr>
              <a:t>AI-Driven Skill Mapping &amp; Micro-Gig Platform for Rural Women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925" y="2216497"/>
            <a:ext cx="37543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DD4BF"/>
                </a:solidFill>
                <a:latin typeface="Space Grotesk"/>
              </a:rPr>
              <a:t>TECHFEST 2026 | INNOVATION HACKATHON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4317652"/>
            <a:ext cx="3917156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64748B"/>
                </a:solidFill>
                <a:latin typeface="Plus Jakarta Sans"/>
              </a:rPr>
              <a:t>PROJECT FOCUS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4508152"/>
            <a:ext cx="391715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E2E8F0"/>
                </a:solidFill>
                <a:latin typeface="Plus Jakarta Sans"/>
              </a:rPr>
              <a:t>Voice-First AI &amp; Biometric Micro-Payments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76725" y="4317652"/>
            <a:ext cx="2595562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64748B"/>
                </a:solidFill>
                <a:latin typeface="Plus Jakarta Sans"/>
              </a:rPr>
              <a:t>INSTITUTION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76725" y="4508152"/>
            <a:ext cx="259556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E2E8F0"/>
                </a:solidFill>
                <a:latin typeface="Plus Jakarta Sans"/>
              </a:rPr>
              <a:t>SLIET / Participating Institute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34175" y="4317652"/>
            <a:ext cx="2488406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64748B"/>
                </a:solidFill>
                <a:latin typeface="Plus Jakarta Sans"/>
              </a:rPr>
              <a:t>PROTOTYPE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34175" y="4508152"/>
            <a:ext cx="248840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2DD4BF"/>
                </a:solidFill>
                <a:latin typeface="Plus Jakarta Sans"/>
              </a:rPr>
              <a:t>Working Engineering Model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33400" y="2768798"/>
            <a:ext cx="3238500" cy="2162175"/>
          </a:xfrm>
          <a:prstGeom prst="roundRect">
            <a:avLst>
              <a:gd name="adj" fmla="val 7048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076700" y="2325885"/>
            <a:ext cx="7581900" cy="914400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076700" y="3392685"/>
            <a:ext cx="7581900" cy="914400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076700" y="4459485"/>
            <a:ext cx="7581900" cy="914400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4825" y="2564010"/>
            <a:ext cx="419100" cy="4191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4825" y="3630810"/>
            <a:ext cx="419100" cy="4191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4825" y="4697610"/>
            <a:ext cx="419100" cy="4191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4837" y="2678310"/>
            <a:ext cx="219075" cy="190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05312" y="3745110"/>
            <a:ext cx="238125" cy="1905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14837" y="4811910"/>
            <a:ext cx="219075" cy="1905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33400" y="419100"/>
            <a:ext cx="116586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D9488"/>
                </a:solidFill>
                <a:latin typeface="Space Grotesk"/>
              </a:rPr>
              <a:t>01. PROBLEM UNDERSTANDING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3400" y="666750"/>
            <a:ext cx="116586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The Rural Female Workforce Paradox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9587" y="3111698"/>
            <a:ext cx="3286125" cy="685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5400"/>
              </a:lnSpc>
            </a:pPr>
            <a:r>
              <a:rPr sz="5400" b="1" i="0" u="none">
                <a:solidFill>
                  <a:srgbClr val="2DD4BF"/>
                </a:solidFill>
                <a:latin typeface="Plus Jakarta Sans"/>
              </a:rPr>
              <a:t>73%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9587" y="3949898"/>
            <a:ext cx="328612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F8FAFC"/>
                </a:solidFill>
                <a:latin typeface="Plus Jakarta Sans"/>
              </a:rPr>
              <a:t>Unorganized Rural Skilled Labor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9587" y="4245173"/>
            <a:ext cx="3286125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94A3B8"/>
                </a:solidFill>
                <a:latin typeface="Plus Jakarta Sans"/>
              </a:rPr>
              <a:t>Off-grid workforce lacking direct market integration tools.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86325" y="2564010"/>
            <a:ext cx="7050881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Invisible Skill Reserve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86325" y="2821185"/>
            <a:ext cx="671512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Unprofiled artisan and craft skills remaining outside digital market aggregators.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86325" y="3630810"/>
            <a:ext cx="6425803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Digital Literacy &amp; Language Friction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86325" y="3887985"/>
            <a:ext cx="6119812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Conventional text platforms fail non-literate workers in regional dialects.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86325" y="4697610"/>
            <a:ext cx="5838229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Middleman Margin Exploitation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86325" y="4954785"/>
            <a:ext cx="5560218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Informal supply channels extract up to 70% of artisan labor value.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33400" y="2949773"/>
            <a:ext cx="3555950" cy="1800225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17950" y="2849760"/>
            <a:ext cx="3555950" cy="2000250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102500" y="2949773"/>
            <a:ext cx="3555950" cy="1800225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25" y="3187898"/>
            <a:ext cx="457200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6075" y="3087885"/>
            <a:ext cx="4572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0625" y="3187898"/>
            <a:ext cx="45720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9162" y="3311723"/>
            <a:ext cx="161925" cy="2095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5612" y="3211710"/>
            <a:ext cx="238125" cy="2095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4450" y="3311723"/>
            <a:ext cx="209550" cy="2095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33400" y="419100"/>
            <a:ext cx="116586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D9488"/>
                </a:solidFill>
                <a:latin typeface="Space Grotesk"/>
              </a:rPr>
              <a:t>02. PROPOSED 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3400" y="666750"/>
            <a:ext cx="116586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HunarShakti Platform Architecture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1525" y="3797498"/>
            <a:ext cx="4042106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BHASHINI Voice Onboarding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1525" y="4111823"/>
            <a:ext cx="31749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Conversational dialect pipeline maps user skills without requiring text literacy.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6075" y="3697485"/>
            <a:ext cx="4042106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pgvector Skill Matcher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6075" y="4011810"/>
            <a:ext cx="317495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High-dimensional vector embeddings connect artisan capabilities directly to buyer orders.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0625" y="3797498"/>
            <a:ext cx="3851374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AEPS / UPI Biometric Escrow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40625" y="4111823"/>
            <a:ext cx="31749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Direct escrow payouts trigger instantly to Aadhaar-linked accounts upon quality audit.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33400" y="2040135"/>
            <a:ext cx="3581400" cy="3619500"/>
          </a:xfrm>
          <a:prstGeom prst="roundRect">
            <a:avLst>
              <a:gd name="adj" fmla="val 372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05300" y="2040135"/>
            <a:ext cx="3581400" cy="3619500"/>
          </a:xfrm>
          <a:prstGeom prst="roundRect">
            <a:avLst>
              <a:gd name="adj" fmla="val 372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2040135"/>
            <a:ext cx="3581400" cy="3619500"/>
          </a:xfrm>
          <a:prstGeom prst="roundRect">
            <a:avLst>
              <a:gd name="adj" fmla="val 372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33400" y="5650110"/>
            <a:ext cx="35814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33400" y="2040135"/>
            <a:ext cx="3581400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33400" y="2040135"/>
            <a:ext cx="9525" cy="36195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105275" y="2040135"/>
            <a:ext cx="9525" cy="36195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71525" y="4535685"/>
            <a:ext cx="3105150" cy="885825"/>
          </a:xfrm>
          <a:prstGeom prst="roundRect">
            <a:avLst>
              <a:gd name="adj" fmla="val 1075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05300" y="5650110"/>
            <a:ext cx="35814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05300" y="2040135"/>
            <a:ext cx="358140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05300" y="2040135"/>
            <a:ext cx="9525" cy="36195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877175" y="2040135"/>
            <a:ext cx="9525" cy="36195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543425" y="4164210"/>
            <a:ext cx="3105150" cy="1257300"/>
          </a:xfrm>
          <a:prstGeom prst="roundRect">
            <a:avLst>
              <a:gd name="adj" fmla="val 757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77200" y="5650110"/>
            <a:ext cx="35814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77200" y="2040135"/>
            <a:ext cx="3581400" cy="381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77200" y="2040135"/>
            <a:ext cx="9525" cy="36195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1649075" y="2040135"/>
            <a:ext cx="9525" cy="36195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315325" y="4535685"/>
            <a:ext cx="3105150" cy="885825"/>
          </a:xfrm>
          <a:prstGeom prst="roundRect">
            <a:avLst>
              <a:gd name="adj" fmla="val 1075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771525" y="2306835"/>
            <a:ext cx="714375" cy="219075"/>
          </a:xfrm>
          <a:prstGeom prst="roundRect">
            <a:avLst>
              <a:gd name="adj" fmla="val 26086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4543425" y="2306835"/>
            <a:ext cx="733425" cy="219075"/>
          </a:xfrm>
          <a:prstGeom prst="roundRect">
            <a:avLst>
              <a:gd name="adj" fmla="val 26086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15325" y="2306835"/>
            <a:ext cx="733425" cy="219075"/>
          </a:xfrm>
          <a:prstGeom prst="roundRect">
            <a:avLst>
              <a:gd name="adj" fmla="val 26086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3800" y="2321123"/>
            <a:ext cx="142875" cy="1905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450" y="4926210"/>
            <a:ext cx="85725" cy="1143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8075" y="2321123"/>
            <a:ext cx="190500" cy="19050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5350" y="4554735"/>
            <a:ext cx="85725" cy="11430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5350" y="4926210"/>
            <a:ext cx="85725" cy="11430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01400" y="2321123"/>
            <a:ext cx="219075" cy="19050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77250" y="4926210"/>
            <a:ext cx="85725" cy="1143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33400" y="419100"/>
            <a:ext cx="116586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D9488"/>
                </a:solidFill>
                <a:latin typeface="Space Grotesk"/>
              </a:rPr>
              <a:t>03. OPERATIONAL MECHANISM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3400" y="666750"/>
            <a:ext cx="116586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End-to-End Data Pipeline Flow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1525" y="2678310"/>
            <a:ext cx="4075509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Natural Input (Edge)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1525" y="3059310"/>
            <a:ext cx="32004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Dialect voice capturing and edge compression pipeline.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3450" y="4697610"/>
            <a:ext cx="347662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Plus Jakarta Sans"/>
              </a:rPr>
              <a:t>Dialect Voice Audio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3450" y="4907160"/>
            <a:ext cx="3476625" cy="142875"/>
          </a:xfrm>
          <a:prstGeom prst="rect">
            <a:avLst/>
          </a:prstGeom>
          <a:noFill/>
        </p:spPr>
        <p:txBody>
          <a:bodyPr wrap="none" lIns="85725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0D9488"/>
                </a:solidFill>
                <a:latin typeface="Plus Jakarta Sans"/>
              </a:rPr>
              <a:t>Low-bitrate Opus Compression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3450" y="5088135"/>
            <a:ext cx="347662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Plus Jakarta Sans"/>
              </a:rPr>
              <a:t>BHASHINI ASR/NMT Pipeline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43425" y="2678310"/>
            <a:ext cx="4075509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Compute &amp; Validation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43425" y="3059310"/>
            <a:ext cx="388143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Automated quality inspection and vector indexing.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05350" y="4326135"/>
            <a:ext cx="347662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Plus Jakarta Sans"/>
              </a:rPr>
              <a:t>Product Photo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05350" y="4535685"/>
            <a:ext cx="3476625" cy="142875"/>
          </a:xfrm>
          <a:prstGeom prst="rect">
            <a:avLst/>
          </a:prstGeom>
          <a:noFill/>
        </p:spPr>
        <p:txBody>
          <a:bodyPr wrap="none" lIns="85725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0284C7"/>
                </a:solidFill>
                <a:latin typeface="Plus Jakarta Sans"/>
              </a:rPr>
              <a:t>YOLOv8 Feature Extraction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05350" y="4716660"/>
            <a:ext cx="347662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334155"/>
                </a:solidFill>
                <a:latin typeface="Plus Jakarta Sans"/>
              </a:rPr>
              <a:t>Stitch/Weave Density Grading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05350" y="4907160"/>
            <a:ext cx="3476625" cy="142875"/>
          </a:xfrm>
          <a:prstGeom prst="rect">
            <a:avLst/>
          </a:prstGeom>
          <a:noFill/>
        </p:spPr>
        <p:txBody>
          <a:bodyPr wrap="none" lIns="85725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0284C7"/>
                </a:solidFill>
                <a:latin typeface="Plus Jakarta Sans"/>
              </a:rPr>
              <a:t>Vector Match Engine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05350" y="5088135"/>
            <a:ext cx="347662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Plus Jakarta Sans"/>
              </a:rPr>
              <a:t>pgvector Cosine Matcher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15325" y="2678310"/>
            <a:ext cx="3876675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Settlement (Fintech)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15325" y="3059310"/>
            <a:ext cx="38766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Automated escrow release and direct payment.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77250" y="4697610"/>
            <a:ext cx="347662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Plus Jakarta Sans"/>
              </a:rPr>
              <a:t>Work Validation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77250" y="4907160"/>
            <a:ext cx="3476625" cy="142875"/>
          </a:xfrm>
          <a:prstGeom prst="rect">
            <a:avLst/>
          </a:prstGeom>
          <a:noFill/>
        </p:spPr>
        <p:txBody>
          <a:bodyPr wrap="none" lIns="85725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16A34A"/>
                </a:solidFill>
                <a:latin typeface="Plus Jakarta Sans"/>
              </a:rPr>
              <a:t>Escrow Hold Trigger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77250" y="5088135"/>
            <a:ext cx="347662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Plus Jakarta Sans"/>
              </a:rPr>
              <a:t>AEPS/UPI Cash Disbursement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6775" y="2344935"/>
            <a:ext cx="6191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D9488"/>
                </a:solidFill>
                <a:latin typeface="Plus Jakarta Sans"/>
              </a:rPr>
              <a:t>STAGE 01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638675" y="2344935"/>
            <a:ext cx="63817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284C7"/>
                </a:solidFill>
                <a:latin typeface="Plus Jakarta Sans"/>
              </a:rPr>
              <a:t>STAGE 02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10575" y="2344935"/>
            <a:ext cx="63817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16A34A"/>
                </a:solidFill>
                <a:latin typeface="Plus Jakarta Sans"/>
              </a:rPr>
              <a:t>STAGE 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8146917" y="1084484"/>
            <a:ext cx="3695700" cy="1514475"/>
          </a:xfrm>
          <a:prstGeom prst="roundRect">
            <a:avLst>
              <a:gd name="adj" fmla="val 1010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33400" y="4918808"/>
            <a:ext cx="3695700" cy="1304925"/>
          </a:xfrm>
          <a:prstGeom prst="roundRect">
            <a:avLst>
              <a:gd name="adj" fmla="val 1021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146917" y="4914045"/>
            <a:ext cx="3695700" cy="1304925"/>
          </a:xfrm>
          <a:prstGeom prst="roundRect">
            <a:avLst>
              <a:gd name="adj" fmla="val 1021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33400" y="419100"/>
            <a:ext cx="116586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D9488"/>
                </a:solidFill>
                <a:latin typeface="Space Grotesk"/>
              </a:rPr>
              <a:t>04. TECHNICAL DEPTH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" y="568957"/>
            <a:ext cx="116586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System Architecture &amp; Tech Stack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5042" y="1322609"/>
            <a:ext cx="4024312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 dirty="0">
                <a:solidFill>
                  <a:srgbClr val="0284C7"/>
                </a:solidFill>
                <a:latin typeface="Plus Jakarta Sans"/>
              </a:rPr>
              <a:t>SPEECH PIPELINE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5042" y="1522634"/>
            <a:ext cx="3480435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1" i="0" u="none" dirty="0">
                <a:solidFill>
                  <a:srgbClr val="0F172A"/>
                </a:solidFill>
                <a:latin typeface="Plus Jakarta Sans"/>
              </a:rPr>
              <a:t>BHASHINI Speech-to-Speech Dialect Pipeline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5042" y="2017934"/>
            <a:ext cx="33147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 dirty="0" err="1">
                <a:solidFill>
                  <a:srgbClr val="475569"/>
                </a:solidFill>
                <a:latin typeface="Plus Jakarta Sans"/>
              </a:rPr>
              <a:t>FastAPI</a:t>
            </a:r>
            <a:r>
              <a:rPr sz="1050" b="0" i="0" u="none" dirty="0">
                <a:solidFill>
                  <a:srgbClr val="475569"/>
                </a:solidFill>
                <a:latin typeface="Plus Jakarta Sans"/>
              </a:rPr>
              <a:t> REST microservices with Govt. Bhashini dialect stack.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1525" y="5156933"/>
            <a:ext cx="4024312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6366F1"/>
                </a:solidFill>
                <a:latin typeface="Plus Jakarta Sans"/>
              </a:rPr>
              <a:t>VECTOR DATABASE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1525" y="5356958"/>
            <a:ext cx="4225528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Plus Jakarta Sans"/>
              </a:rPr>
              <a:t>pgvector Cosine Similarity Matcher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1525" y="5642708"/>
            <a:ext cx="33147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Plus Jakarta Sans"/>
              </a:rPr>
              <a:t>PostgreSQL instance running pgvector for skill proximity search.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5042" y="5152170"/>
            <a:ext cx="4024312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16A34A"/>
                </a:solidFill>
                <a:latin typeface="Plus Jakarta Sans"/>
              </a:rPr>
              <a:t>PAYMENT GATEWAY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5042" y="5352195"/>
            <a:ext cx="4225528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Plus Jakarta Sans"/>
              </a:rPr>
              <a:t>AEPS / UPI Biometric Escrow Middleware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5042" y="5637945"/>
            <a:ext cx="33147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Plus Jakarta Sans"/>
              </a:rPr>
              <a:t>Aadhaar biometric authentication and milestone escrow releases.</a:t>
            </a:r>
          </a:p>
        </p:txBody>
      </p:sp>
      <p:sp>
        <p:nvSpPr>
          <p:cNvPr id="24" name="Rounded Rectangle 1">
            <a:extLst>
              <a:ext uri="{FF2B5EF4-FFF2-40B4-BE49-F238E27FC236}">
                <a16:creationId xmlns:a16="http://schemas.microsoft.com/office/drawing/2014/main" id="{F9C439A2-3C60-8CEB-7224-11C603222306}"/>
              </a:ext>
            </a:extLst>
          </p:cNvPr>
          <p:cNvSpPr/>
          <p:nvPr/>
        </p:nvSpPr>
        <p:spPr>
          <a:xfrm>
            <a:off x="523987" y="1087163"/>
            <a:ext cx="3695700" cy="1514475"/>
          </a:xfrm>
          <a:prstGeom prst="roundRect">
            <a:avLst>
              <a:gd name="adj" fmla="val 880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31BB097-AC21-96F5-5565-AAE402A424C8}"/>
              </a:ext>
            </a:extLst>
          </p:cNvPr>
          <p:cNvSpPr txBox="1"/>
          <p:nvPr/>
        </p:nvSpPr>
        <p:spPr>
          <a:xfrm>
            <a:off x="762112" y="1325288"/>
            <a:ext cx="4024312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D9488"/>
                </a:solidFill>
                <a:latin typeface="Plus Jakarta Sans"/>
              </a:rPr>
              <a:t>FRONTEND LAYER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1A24147-5680-040E-8A45-C79E80577D62}"/>
              </a:ext>
            </a:extLst>
          </p:cNvPr>
          <p:cNvSpPr txBox="1"/>
          <p:nvPr/>
        </p:nvSpPr>
        <p:spPr>
          <a:xfrm>
            <a:off x="762112" y="1525313"/>
            <a:ext cx="4225528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Plus Jakarta Sans"/>
              </a:rPr>
              <a:t>PWA Service-Worker Local SQLite Sync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F68E283-D618-72A8-6EE0-0165E18331E3}"/>
              </a:ext>
            </a:extLst>
          </p:cNvPr>
          <p:cNvSpPr txBox="1"/>
          <p:nvPr/>
        </p:nvSpPr>
        <p:spPr>
          <a:xfrm>
            <a:off x="762112" y="1811063"/>
            <a:ext cx="33147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Plus Jakarta Sans"/>
              </a:rPr>
              <a:t>React Native framework with zero-text iconography interface.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1925C410-EC97-C42F-0B51-F057B7CFB6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3713" y="2668640"/>
            <a:ext cx="4564574" cy="217658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33400" y="2742604"/>
            <a:ext cx="3555950" cy="2214562"/>
          </a:xfrm>
          <a:prstGeom prst="roundRect">
            <a:avLst>
              <a:gd name="adj" fmla="val 602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17950" y="2742604"/>
            <a:ext cx="3555950" cy="2214562"/>
          </a:xfrm>
          <a:prstGeom prst="roundRect">
            <a:avLst>
              <a:gd name="adj" fmla="val 602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102500" y="2742604"/>
            <a:ext cx="3555950" cy="2214562"/>
          </a:xfrm>
          <a:prstGeom prst="roundRect">
            <a:avLst>
              <a:gd name="adj" fmla="val 602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09625" y="3018829"/>
            <a:ext cx="1266825" cy="276225"/>
          </a:xfrm>
          <a:prstGeom prst="roundRect">
            <a:avLst>
              <a:gd name="adj" fmla="val 20689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94175" y="3018829"/>
            <a:ext cx="1104900" cy="276225"/>
          </a:xfrm>
          <a:prstGeom prst="roundRect">
            <a:avLst>
              <a:gd name="adj" fmla="val 20689"/>
            </a:avLst>
          </a:prstGeom>
          <a:solidFill>
            <a:srgbClr val="E0F2FE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378725" y="3018829"/>
            <a:ext cx="1323975" cy="276225"/>
          </a:xfrm>
          <a:prstGeom prst="roundRect">
            <a:avLst>
              <a:gd name="adj" fmla="val 20689"/>
            </a:avLst>
          </a:prstGeom>
          <a:solidFill>
            <a:srgbClr val="F3E8FF"/>
          </a:solidFill>
          <a:ln w="9525">
            <a:solidFill>
              <a:srgbClr val="E9D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33400" y="419100"/>
            <a:ext cx="116586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D9488"/>
                </a:solidFill>
                <a:latin typeface="Space Grotesk"/>
              </a:rPr>
              <a:t>05. AI/ML WORKING MECHANISM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" y="666750"/>
            <a:ext cx="116586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Deep Tech Execution Stack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625" y="3447454"/>
            <a:ext cx="3253687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BHASHINI Speech-to-Speech Dialect Pipeline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625" y="4038004"/>
            <a:ext cx="309875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Converts dialect voice payloads into structured JSON attributes for speed, domain, and experience profiling.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4175" y="3447454"/>
            <a:ext cx="3253687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YOLOv8 Edge Computer Vision Scoring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4175" y="4038004"/>
            <a:ext cx="309875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Evaluates craft photo uploads for stitch symmetry, weave density, and visual quality tiers.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78725" y="3447454"/>
            <a:ext cx="3253687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pgvector Cosine Similarity Matcher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78725" y="4038004"/>
            <a:ext cx="309875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Calculates mathematical distance between buyer requirements and registered skill vector profiles.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3450" y="3085504"/>
            <a:ext cx="130492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16A34A"/>
                </a:solidFill>
                <a:latin typeface="Plus Jakarta Sans"/>
              </a:rPr>
              <a:t>VOICE AI PIPELINE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18000" y="3085504"/>
            <a:ext cx="114300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284C7"/>
                </a:solidFill>
                <a:latin typeface="Plus Jakarta Sans"/>
              </a:rPr>
              <a:t>VISION MODEL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2550" y="3085504"/>
            <a:ext cx="136207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9333EA"/>
                </a:solidFill>
                <a:latin typeface="Plus Jakarta Sans"/>
              </a:rPr>
              <a:t>MATCHING ENGINE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33400" y="2221110"/>
            <a:ext cx="11125200" cy="971550"/>
          </a:xfrm>
          <a:prstGeom prst="roundRect">
            <a:avLst>
              <a:gd name="adj" fmla="val 1372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33400" y="3364110"/>
            <a:ext cx="11125200" cy="971550"/>
          </a:xfrm>
          <a:prstGeom prst="roundRect">
            <a:avLst>
              <a:gd name="adj" fmla="val 1372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33400" y="4507110"/>
            <a:ext cx="11125200" cy="971550"/>
          </a:xfrm>
          <a:prstGeom prst="roundRect">
            <a:avLst>
              <a:gd name="adj" fmla="val 1372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25" y="2459235"/>
            <a:ext cx="495300" cy="4953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525" y="3602235"/>
            <a:ext cx="495300" cy="4953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525" y="4745235"/>
            <a:ext cx="495300" cy="4953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5825" y="2602110"/>
            <a:ext cx="266700" cy="2095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3745110"/>
            <a:ext cx="209550" cy="2095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4888110"/>
            <a:ext cx="209550" cy="2095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33400" y="419100"/>
            <a:ext cx="116586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D9488"/>
                </a:solidFill>
                <a:latin typeface="Space Grotesk"/>
              </a:rPr>
              <a:t>06. SYSTEM FAULT-TOLERANCE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3400" y="666750"/>
            <a:ext cx="116586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Engineered Resiliency for Rural Realities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95425" y="2487810"/>
            <a:ext cx="106965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Low Connectivity Challenge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95425" y="2744985"/>
            <a:ext cx="1069657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475569"/>
                </a:solidFill>
                <a:latin typeface="Plus Jakarta Sans"/>
              </a:rPr>
              <a:t>Mitigation:</a:t>
            </a:r>
            <a:r>
              <a:rPr sz="1125" b="0" i="0" u="none">
                <a:solidFill>
                  <a:srgbClr val="475569"/>
                </a:solidFill>
                <a:latin typeface="Plus Jakarta Sans"/>
              </a:rPr>
              <a:t> Offline-First PWA architecture caches audio payloads locally in SQLite and executes background batch syncs upon signal recovery.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95425" y="3630810"/>
            <a:ext cx="106965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Low Bandwidth Challenge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95425" y="3887985"/>
            <a:ext cx="1069657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475569"/>
                </a:solidFill>
                <a:latin typeface="Plus Jakarta Sans"/>
              </a:rPr>
              <a:t>Mitigation:</a:t>
            </a:r>
            <a:r>
              <a:rPr sz="1125" b="0" i="0" u="none">
                <a:solidFill>
                  <a:srgbClr val="475569"/>
                </a:solidFill>
                <a:latin typeface="Plus Jakarta Sans"/>
              </a:rPr>
              <a:t> Voice payloads are compressed down to 16 kbps using WebM/Opus codecs before hitting API endpoints.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95425" y="4773810"/>
            <a:ext cx="106965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Literacy Barrier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95425" y="5030985"/>
            <a:ext cx="1069657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475569"/>
                </a:solidFill>
                <a:latin typeface="Plus Jakarta Sans"/>
              </a:rPr>
              <a:t>Mitigation:</a:t>
            </a:r>
            <a:r>
              <a:rPr sz="1125" b="0" i="0" u="none">
                <a:solidFill>
                  <a:srgbClr val="475569"/>
                </a:solidFill>
                <a:latin typeface="Plus Jakarta Sans"/>
              </a:rPr>
              <a:t> Zero-text UI relying entirely on iconographic navigation and speech-driven interactive prompts.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33400" y="2983110"/>
            <a:ext cx="5410200" cy="1733550"/>
          </a:xfrm>
          <a:prstGeom prst="roundRect">
            <a:avLst>
              <a:gd name="adj" fmla="val 7692"/>
            </a:avLst>
          </a:prstGeom>
          <a:solidFill>
            <a:srgbClr val="FAFAFA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48400" y="2983110"/>
            <a:ext cx="5410200" cy="1733550"/>
          </a:xfrm>
          <a:prstGeom prst="roundRect">
            <a:avLst>
              <a:gd name="adj" fmla="val 7692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71525" y="3535560"/>
            <a:ext cx="493395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86525" y="3535560"/>
            <a:ext cx="4933950" cy="19050"/>
          </a:xfrm>
          <a:prstGeom prst="rect">
            <a:avLst/>
          </a:prstGeom>
          <a:solidFill>
            <a:srgbClr val="BBF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33400" y="419100"/>
            <a:ext cx="116586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D9488"/>
                </a:solidFill>
                <a:latin typeface="Space Grotesk"/>
              </a:rPr>
              <a:t>07. FINANCIAL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666750"/>
            <a:ext cx="116586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Cost Structure &amp; Revenue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1525" y="3221235"/>
            <a:ext cx="528066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Estimated Setup Cost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6525" y="3221235"/>
            <a:ext cx="528066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66534"/>
                </a:solidFill>
                <a:latin typeface="Plus Jakarta Sans"/>
              </a:rPr>
              <a:t>Revenue Streams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1525" y="3707010"/>
            <a:ext cx="2321718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Cloud &amp; BHASHINI API Infra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5350" y="3707010"/>
            <a:ext cx="128587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₹45,000 / 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1525" y="4002285"/>
            <a:ext cx="2690812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Community SHG Facilitator Kits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19575" y="4002285"/>
            <a:ext cx="185737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₹60,000 (One-time)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1525" y="4297560"/>
            <a:ext cx="2678906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YOLOv8 &amp; Voice Model Hosting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95825" y="4297560"/>
            <a:ext cx="12954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₹30,000 / mo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6525" y="3707010"/>
            <a:ext cx="2214562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166534"/>
                </a:solidFill>
                <a:latin typeface="Plus Jakarta Sans"/>
              </a:rPr>
              <a:t>B2B Order Facilitation Fee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67950" y="3707010"/>
            <a:ext cx="1440656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166534"/>
                </a:solidFill>
                <a:latin typeface="Plus Jakarta Sans"/>
              </a:rPr>
              <a:t>3% Commission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6525" y="4002285"/>
            <a:ext cx="2643187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166534"/>
                </a:solidFill>
                <a:latin typeface="Plus Jakarta Sans"/>
              </a:rPr>
              <a:t>Corporate CSR &amp; NRLM Grants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63200" y="4002285"/>
            <a:ext cx="134302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166534"/>
                </a:solidFill>
                <a:latin typeface="Plus Jakarta Sans"/>
              </a:rPr>
              <a:t>Govt Subsidies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86525" y="4297560"/>
            <a:ext cx="233362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166534"/>
                </a:solidFill>
                <a:latin typeface="Plus Jakarta Sans"/>
              </a:rPr>
              <a:t>Premium Artisan Showcase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29850" y="4297560"/>
            <a:ext cx="1488281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166534"/>
                </a:solidFill>
                <a:latin typeface="Plus Jakarta Sans"/>
              </a:rPr>
              <a:t>Subscription Tier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33400" y="2135385"/>
            <a:ext cx="3581400" cy="3429000"/>
          </a:xfrm>
          <a:prstGeom prst="roundRect">
            <a:avLst>
              <a:gd name="adj" fmla="val 388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05300" y="2135385"/>
            <a:ext cx="3581400" cy="3429000"/>
          </a:xfrm>
          <a:prstGeom prst="roundRect">
            <a:avLst>
              <a:gd name="adj" fmla="val 388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2135385"/>
            <a:ext cx="3581400" cy="3429000"/>
          </a:xfrm>
          <a:prstGeom prst="roundRect">
            <a:avLst>
              <a:gd name="adj" fmla="val 388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33400" y="5554860"/>
            <a:ext cx="35814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33400" y="2135385"/>
            <a:ext cx="3581400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33400" y="2135385"/>
            <a:ext cx="9525" cy="3429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105275" y="2135385"/>
            <a:ext cx="9525" cy="3429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05300" y="5554860"/>
            <a:ext cx="35814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05300" y="2135385"/>
            <a:ext cx="358140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05300" y="2135385"/>
            <a:ext cx="9525" cy="3429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877175" y="2135385"/>
            <a:ext cx="9525" cy="3429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077200" y="5554860"/>
            <a:ext cx="35814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77200" y="2135385"/>
            <a:ext cx="3581400" cy="381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77200" y="2135385"/>
            <a:ext cx="9525" cy="3429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1649075" y="2135385"/>
            <a:ext cx="9525" cy="3429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71525" y="2411610"/>
            <a:ext cx="733425" cy="219075"/>
          </a:xfrm>
          <a:prstGeom prst="roundRect">
            <a:avLst>
              <a:gd name="adj" fmla="val 26086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543425" y="2411610"/>
            <a:ext cx="1114425" cy="219075"/>
          </a:xfrm>
          <a:prstGeom prst="roundRect">
            <a:avLst>
              <a:gd name="adj" fmla="val 26086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315325" y="2411610"/>
            <a:ext cx="990600" cy="219075"/>
          </a:xfrm>
          <a:prstGeom prst="roundRect">
            <a:avLst>
              <a:gd name="adj" fmla="val 26086"/>
            </a:avLst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33400" y="419100"/>
            <a:ext cx="116586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D9488"/>
                </a:solidFill>
                <a:latin typeface="Space Grotesk"/>
              </a:rPr>
              <a:t>08. SCALABILITY &amp; ROADMAP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3400" y="666750"/>
            <a:ext cx="116586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Technology Readiness Level (TRL) Roadmap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1525" y="4897635"/>
            <a:ext cx="32004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Functional prototype validated with multi-modal AI voice and vision grading pipeline.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43425" y="4683323"/>
            <a:ext cx="320040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Field pilot with 50 rural SHG artisans; fine-tuning YOLOv8 model weights on regional handicraft datasets.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15325" y="4683323"/>
            <a:ext cx="320040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Scaled deployment with state rural livelihood missions; integration with micro-credit scoring APIs based on craft output history.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6775" y="2449710"/>
            <a:ext cx="63817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D9488"/>
                </a:solidFill>
                <a:latin typeface="Plus Jakarta Sans"/>
              </a:rPr>
              <a:t>CURRENT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1525" y="2716410"/>
            <a:ext cx="4075509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Phase 1 (TRL 4)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1525" y="3040260"/>
            <a:ext cx="388143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D9488"/>
                </a:solidFill>
                <a:latin typeface="Plus Jakarta Sans"/>
              </a:rPr>
              <a:t>Functional Prototype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38675" y="2449710"/>
            <a:ext cx="101917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284C7"/>
                </a:solidFill>
                <a:latin typeface="Plus Jakarta Sans"/>
              </a:rPr>
              <a:t>NEXT 3 MONTHS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43425" y="2716410"/>
            <a:ext cx="4075509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Phase 2 (TRL 6)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43425" y="3040260"/>
            <a:ext cx="388143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Field Pilot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0575" y="2449710"/>
            <a:ext cx="8953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6366F1"/>
                </a:solidFill>
                <a:latin typeface="Plus Jakarta Sans"/>
              </a:rPr>
              <a:t>6–12 MONTHS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15325" y="2716410"/>
            <a:ext cx="3876675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Phase 3 (TRL 9)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15325" y="3040260"/>
            <a:ext cx="38766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366F1"/>
                </a:solidFill>
                <a:latin typeface="Plus Jakarta Sans"/>
              </a:rPr>
              <a:t>Scaled Deployment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681537" y="4188023"/>
            <a:ext cx="2828925" cy="447675"/>
          </a:xfrm>
          <a:prstGeom prst="roundRect">
            <a:avLst>
              <a:gd name="adj" fmla="val 50000"/>
            </a:avLst>
          </a:prstGeom>
          <a:solidFill>
            <a:srgbClr val="1B2335"/>
          </a:solidFill>
          <a:ln w="9525">
            <a:solidFill>
              <a:srgbClr val="272E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962487" y="2222152"/>
            <a:ext cx="2267024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2DD4BF"/>
                </a:solidFill>
                <a:latin typeface="Space Grotesk"/>
              </a:rPr>
              <a:t>TECHFEST 2026 @ SLIET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20765" y="2546002"/>
            <a:ext cx="3750468" cy="613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4830"/>
              </a:lnSpc>
            </a:pPr>
            <a:r>
              <a:rPr sz="4200" b="1" i="0" u="none">
                <a:solidFill>
                  <a:srgbClr val="FFFFFF"/>
                </a:solidFill>
                <a:latin typeface="Plus Jakarta Sans"/>
              </a:rPr>
              <a:t>Thank You!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8812" y="3349823"/>
            <a:ext cx="8334375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0" i="0" u="none">
                <a:solidFill>
                  <a:srgbClr val="94A3B8"/>
                </a:solidFill>
                <a:latin typeface="Plus Jakarta Sans"/>
              </a:rPr>
              <a:t>HunarShakti: Bridging the digital divide to create sustainable livelihoods for rural women.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73203" y="4311848"/>
            <a:ext cx="2845593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2DD4BF"/>
                </a:solidFill>
                <a:latin typeface="Plus Jakarta Sans"/>
              </a:rPr>
              <a:t>Open for Q&amp;A &amp; Jury Evaluation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633</Words>
  <Application>Microsoft Office PowerPoint</Application>
  <PresentationFormat>Widescreen</PresentationFormat>
  <Paragraphs>117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Space Grotesk</vt:lpstr>
      <vt:lpstr>Calibri</vt:lpstr>
      <vt:lpstr>Plus Jakarta Sans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Sohaam Mandal</cp:lastModifiedBy>
  <cp:revision>2</cp:revision>
  <dcterms:created xsi:type="dcterms:W3CDTF">2013-01-27T09:14:16Z</dcterms:created>
  <dcterms:modified xsi:type="dcterms:W3CDTF">2026-10-10T09:18:26Z</dcterms:modified>
  <cp:category/>
</cp:coreProperties>
</file>